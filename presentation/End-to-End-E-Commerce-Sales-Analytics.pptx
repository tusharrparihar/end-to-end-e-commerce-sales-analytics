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orben"/>
      <p:regular r:id="rId201314"/>
    </p:embeddedFont>
    <p:embeddedFont>
      <p:font typeface="Corben Bold"/>
      <p:regular r:id="rId201315"/>
    </p:embeddedFont>
    <p:embeddedFont>
      <p:font typeface="Nobile"/>
      <p:regular r:id="rId201316"/>
    </p:embeddedFont>
    <p:embeddedFont>
      <p:font typeface="Nobile Medium"/>
      <p:regular r:id="rId201317"/>
    </p:embeddedFont>
    <p:embeddedFont>
      <p:font typeface="Nobil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jpe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7.png"/><Relationship Id="rId10" Type="http://schemas.openxmlformats.org/officeDocument/2006/relationships/image" Target="../media/image-8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579885"/>
            <a:ext cx="2215083" cy="215354"/>
          </a:xfrm>
          <a:prstGeom prst="roundRect">
            <a:avLst>
              <a:gd name="adj" fmla="val 22119"/>
            </a:avLst>
          </a:prstGeom>
          <a:solidFill>
            <a:srgbClr val="D2D9F9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622375"/>
            <a:ext cx="25021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ANALYST PORTFOLIO PROJECT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85194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End-to-End E-Commerce Sales Analytics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950518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Superstore Sales Dataset (2015–2018) · Python | MySQL | Power BI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Tushar Parihar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Data Analyst Portfolio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67320"/>
            <a:ext cx="151440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6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509811"/>
            <a:ext cx="180149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01 · BUSINESS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937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96119" y="1306339"/>
            <a:ext cx="8151763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Analyze four years of Superstore sales data to uncover trends, identify top performers, and deliver actionable insights that support smarter business decisions.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28651"/>
            <a:ext cx="354360" cy="35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7658" y="1828651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Sales Trend Analysis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27658" y="2135163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four-year sales growth patterns and directional shifts.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828651"/>
            <a:ext cx="354360" cy="35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92092" y="1828651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Top Products &amp; Customers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192092" y="2135163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Find best-selling products and highest-value customer segments.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72308"/>
            <a:ext cx="354360" cy="35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7658" y="2872308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Regional Performance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27658" y="3178820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Compare sales performance across all four U.S. regions.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872308"/>
            <a:ext cx="354360" cy="3543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92092" y="2872308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Seasonal Patterns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192092" y="3178820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Discover peak sales months and seasonal demand cycles.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915966"/>
            <a:ext cx="354360" cy="3543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7658" y="3915966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Business Decisions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027658" y="4222477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 data-driven decisions with clear, evidence-based insights.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553" y="3915966"/>
            <a:ext cx="354360" cy="3543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92092" y="3915966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Strategic Growth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5192092" y="4222477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opportunities to optimize inventory and revenue.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765423" cy="107603"/>
          </a:xfrm>
          <a:prstGeom prst="roundRect">
            <a:avLst>
              <a:gd name="adj" fmla="val 22134"/>
            </a:avLst>
          </a:prstGeom>
          <a:noFill/>
          <a:ln w="4763">
            <a:solidFill>
              <a:srgbClr val="496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1137642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02 · DATASET OVERVIEW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Superstore Sales Dataset (2015–2018)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438102"/>
            <a:ext cx="3989412" cy="287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comprehensive retail dataset spanning four years of transactions, covering customer segments, product categories, and regional markets across the United States.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Key characteristics: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496119" y="2756967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Transaction-level sales records from 2015 to 2018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Three distinct customer segments and product categories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Geographic coverage across four U.S. regions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Rich attributes for product, customer, and order analysis</a:t>
            </a:r>
            <a:endParaRPr lang="en-US" sz="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81720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9901"/>
            <a:ext cx="1076548" cy="148010"/>
          </a:xfrm>
          <a:prstGeom prst="roundRect">
            <a:avLst>
              <a:gd name="adj" fmla="val 22126"/>
            </a:avLst>
          </a:prstGeom>
          <a:noFill/>
          <a:ln w="4763">
            <a:solidFill>
              <a:srgbClr val="496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4534" y="429071"/>
            <a:ext cx="1416918" cy="8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03 · PROJECT WORKFLOW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74700"/>
            <a:ext cx="8151763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End-to-End Analytics Pipeline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18865"/>
            <a:ext cx="8084567" cy="3486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714" y="3743971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93696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Python Cleaning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213811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 Collection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133110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480471"/>
            <a:ext cx="81517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structured pipeline from raw data collection through Python cleaning, SQL analysis, and Power BI visualization — culminating in actionable business insights ready for stakeholder review.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4114"/>
            <a:ext cx="1964234" cy="168250"/>
          </a:xfrm>
          <a:prstGeom prst="roundRect">
            <a:avLst>
              <a:gd name="adj" fmla="val 22118"/>
            </a:avLst>
          </a:prstGeom>
          <a:noFill/>
          <a:ln w="4763">
            <a:solidFill>
              <a:srgbClr val="496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2570" y="447303"/>
            <a:ext cx="2288530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04 · DATA PREPARATION &amp; SQL ANALYSIS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16967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Python Cleaning &amp; SQL Analysis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6421" y="1023640"/>
            <a:ext cx="4100215" cy="3705671"/>
          </a:xfrm>
          <a:prstGeom prst="roundRect">
            <a:avLst>
              <a:gd name="adj" fmla="val 2152"/>
            </a:avLst>
          </a:prstGeom>
          <a:solidFill>
            <a:srgbClr val="4967E9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7149" y="1110109"/>
            <a:ext cx="387875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Python — Data Preparation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7149" y="1439242"/>
            <a:ext cx="55364" cy="55364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8" name="Text 6"/>
          <p:cNvSpPr/>
          <p:nvPr/>
        </p:nvSpPr>
        <p:spPr>
          <a:xfrm>
            <a:off x="668982" y="1380455"/>
            <a:ext cx="373692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8982" y="1639937"/>
            <a:ext cx="373692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Removed duplicates and handled inconsistent formatting across all fields.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7149" y="2187253"/>
            <a:ext cx="55364" cy="55364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1" name="Text 9"/>
          <p:cNvSpPr/>
          <p:nvPr/>
        </p:nvSpPr>
        <p:spPr>
          <a:xfrm>
            <a:off x="668982" y="2128465"/>
            <a:ext cx="373692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Missing Value Handling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8982" y="2387947"/>
            <a:ext cx="373692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Imputed or dropped missing records to ensure dataset integrity.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7149" y="2777505"/>
            <a:ext cx="55364" cy="55364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4" name="Text 12"/>
          <p:cNvSpPr/>
          <p:nvPr/>
        </p:nvSpPr>
        <p:spPr>
          <a:xfrm>
            <a:off x="668982" y="2718718"/>
            <a:ext cx="373692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Date Formatting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8982" y="2978200"/>
            <a:ext cx="373692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Standardized order dates for time-series analysis and seasonal trend detection.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7149" y="3525515"/>
            <a:ext cx="55364" cy="55364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668982" y="3466728"/>
            <a:ext cx="373692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8982" y="3726210"/>
            <a:ext cx="373692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derived fields including order month, year, and profit margins.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7149" y="4115767"/>
            <a:ext cx="55364" cy="55364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20" name="Text 18"/>
          <p:cNvSpPr/>
          <p:nvPr/>
        </p:nvSpPr>
        <p:spPr>
          <a:xfrm>
            <a:off x="668982" y="4056980"/>
            <a:ext cx="373692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Export Clean Dataset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8982" y="4316462"/>
            <a:ext cx="373692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Exported the cleaned dataset for MySQL ingestion and downstream analysis.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11824" y="1110109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MySQL — Business Analysis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11824" y="1439242"/>
            <a:ext cx="55364" cy="55364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24" name="Text 22"/>
          <p:cNvSpPr/>
          <p:nvPr/>
        </p:nvSpPr>
        <p:spPr>
          <a:xfrm>
            <a:off x="4853657" y="1380455"/>
            <a:ext cx="177447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Loaded Clean Data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53657" y="1639937"/>
            <a:ext cx="1774478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Imported the Python-cleaned dataset into a structured MySQL database.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36259" y="1439242"/>
            <a:ext cx="55364" cy="55364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27" name="Text 25"/>
          <p:cNvSpPr/>
          <p:nvPr/>
        </p:nvSpPr>
        <p:spPr>
          <a:xfrm>
            <a:off x="6878092" y="1380455"/>
            <a:ext cx="177455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20 SQL Queries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78092" y="1639937"/>
            <a:ext cx="177455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Authored 20 analytical queries covering aggregations, joins, and window functions.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11824" y="2345010"/>
            <a:ext cx="55364" cy="55364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30" name="Text 28"/>
          <p:cNvSpPr/>
          <p:nvPr/>
        </p:nvSpPr>
        <p:spPr>
          <a:xfrm>
            <a:off x="4853657" y="2286223"/>
            <a:ext cx="177447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10 Business Questions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53657" y="2545705"/>
            <a:ext cx="1774478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Answered 10 key business questions on sales, customers, and regional performance.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36259" y="2345010"/>
            <a:ext cx="55364" cy="55364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33" name="Text 31"/>
          <p:cNvSpPr/>
          <p:nvPr/>
        </p:nvSpPr>
        <p:spPr>
          <a:xfrm>
            <a:off x="6878092" y="2286223"/>
            <a:ext cx="177455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Business Metrics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78092" y="2545705"/>
            <a:ext cx="177455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Generated KPIs including total sales, growth rates, and category-level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1733"/>
            <a:ext cx="1162645" cy="148010"/>
          </a:xfrm>
          <a:prstGeom prst="roundRect">
            <a:avLst>
              <a:gd name="adj" fmla="val 22126"/>
            </a:avLst>
          </a:prstGeom>
          <a:noFill/>
          <a:ln w="4763">
            <a:solidFill>
              <a:srgbClr val="496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4534" y="440903"/>
            <a:ext cx="1503015" cy="8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05 · POWER BI DASHBOARD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86532"/>
            <a:ext cx="8151763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Interactive Dashboard Design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6119" y="930697"/>
            <a:ext cx="8608963" cy="105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multi-page Power BI report with KPI cards, trend lines, regional maps, and product performance visuals — all linked through interactive filters and slicers.</a:t>
            </a:r>
            <a:endParaRPr lang="en-US" sz="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11300"/>
            <a:ext cx="1975098" cy="12206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398961"/>
            <a:ext cx="197509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KPI Cards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6119" y="2591395"/>
            <a:ext cx="1975098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High-level metrics for total sales, profit, and order volume at a glance.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932" y="1111300"/>
            <a:ext cx="1975172" cy="12206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54932" y="2398961"/>
            <a:ext cx="197517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Sales Trend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554932" y="2591395"/>
            <a:ext cx="197517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Year-over-year and month-over-month sales trend visualizations.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821" y="1111300"/>
            <a:ext cx="1975172" cy="12206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3821" y="2398961"/>
            <a:ext cx="197517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Regional Analysis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613821" y="2591395"/>
            <a:ext cx="197517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Geographic map visual comparing performance across all four regions.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709" y="1111300"/>
            <a:ext cx="1975172" cy="12206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72709" y="2398961"/>
            <a:ext cx="197517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Product Performance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6672709" y="2591395"/>
            <a:ext cx="197517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Category and sub-category breakdowns ranked by sales and profit.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988469"/>
            <a:ext cx="1975098" cy="12206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6119" y="4276130"/>
            <a:ext cx="197509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Analysis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496119" y="4468564"/>
            <a:ext cx="1975098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Segment-level revenue contribution and customer value insights.</a:t>
            </a:r>
            <a:endParaRPr lang="en-US" sz="7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4932" y="2988469"/>
            <a:ext cx="1975172" cy="12206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554932" y="4276130"/>
            <a:ext cx="197517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Filters &amp; Slicers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2554932" y="4468564"/>
            <a:ext cx="197517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controls for year, region, category, and segment filtering.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5053"/>
            <a:ext cx="1006376" cy="181719"/>
          </a:xfrm>
          <a:prstGeom prst="roundRect">
            <a:avLst>
              <a:gd name="adj" fmla="val 22117"/>
            </a:avLst>
          </a:prstGeom>
          <a:noFill/>
          <a:ln w="4763">
            <a:solidFill>
              <a:srgbClr val="496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7854" y="460921"/>
            <a:ext cx="1320105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06 · KEY INSIGHTS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47105"/>
            <a:ext cx="8151763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the Data Revealed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96119" y="1157213"/>
            <a:ext cx="4012778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$2.26M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6119" y="1687413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6119" y="1934766"/>
            <a:ext cx="40127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Cumulative revenue across all four years of transactions.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35029" y="1157213"/>
            <a:ext cx="4012853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4635029" y="1687413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Years of Growth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35029" y="1934766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Sales grew overall from 2015 through 2018 with a brief 2016 dip.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6119" y="2372692"/>
            <a:ext cx="4012778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#1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496119" y="2902893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Top Category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119" y="3150245"/>
            <a:ext cx="40127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Technology led all product categories in total sales revenue.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5029" y="2372692"/>
            <a:ext cx="4012853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West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4635029" y="2902893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Top Region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35029" y="3150245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West region generated the highest sales across the period.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6119" y="3588172"/>
            <a:ext cx="4012778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Nov–Dec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496119" y="4118372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Peak Season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6119" y="4365724"/>
            <a:ext cx="401277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November and December consistently recorded the highest monthly sales.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35029" y="3588172"/>
            <a:ext cx="4012853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Consumer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4635029" y="4118372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Top Segment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35029" y="4365724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Consumer segment contributed the most revenue overall.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62062"/>
            <a:ext cx="216976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6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704552"/>
            <a:ext cx="245685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07 · BUSINESS RECOMMENDATIONS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3412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Actionable Recommendations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01080"/>
            <a:ext cx="2622724" cy="15300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127" y="166188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Boost South Region Sales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3127" y="1968401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Targeted marketing campaigns and promotions to close the regional performance gap.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501080"/>
            <a:ext cx="2622724" cy="15300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97610" y="1661889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Pre-Holiday Inventory Buildup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97610" y="2189857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Increase stock levels before November and December to meet seasonal demand spikes.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501080"/>
            <a:ext cx="2622724" cy="15300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62092" y="166188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Focus on Top Products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262092" y="1968401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Prioritize high-performing products with proven revenue and profit margins.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72867"/>
            <a:ext cx="2622724" cy="130857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3127" y="3333676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Review Low Sellers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33127" y="3640187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Evaluate underperforming products for discontinuation or strategic repositioning.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601" y="3172867"/>
            <a:ext cx="2622724" cy="13085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497610" y="3333676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Investigate 2016 Decline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497610" y="3640187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Conduct root-cause analysis on the 2016 sales dip to prevent future occurrences.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9489"/>
            <a:ext cx="1594917" cy="195114"/>
          </a:xfrm>
          <a:prstGeom prst="roundRect">
            <a:avLst>
              <a:gd name="adj" fmla="val 22125"/>
            </a:avLst>
          </a:prstGeom>
          <a:noFill/>
          <a:ln w="4763">
            <a:solidFill>
              <a:srgbClr val="4967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3137" y="477962"/>
            <a:ext cx="1898079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08 · SKILLS DEMONSTRATED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81112"/>
            <a:ext cx="8151763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Technical Skills Showcase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6119" y="1176858"/>
            <a:ext cx="8608963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end-to-end data analytics workflow spanning data preparation, database analysis, visualization, and business intelligence.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96119" y="1464543"/>
            <a:ext cx="1950616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9320" y="1597744"/>
            <a:ext cx="16842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320" y="1868239"/>
            <a:ext cx="16842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Scripting &amp; automation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3118" y="1464543"/>
            <a:ext cx="1950690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6319" y="1597744"/>
            <a:ext cx="1684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Pandas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6319" y="1868239"/>
            <a:ext cx="1684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30192" y="1464543"/>
            <a:ext cx="1950616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3393" y="1597744"/>
            <a:ext cx="16842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63393" y="1868239"/>
            <a:ext cx="16842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Quality assurance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7191" y="1464543"/>
            <a:ext cx="1950690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392" y="1597744"/>
            <a:ext cx="1684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30392" y="1868239"/>
            <a:ext cx="1684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Derived metrics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6119" y="2313756"/>
            <a:ext cx="1950616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320" y="2446958"/>
            <a:ext cx="16842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MySQL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9320" y="2717453"/>
            <a:ext cx="16842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Database design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3118" y="2313756"/>
            <a:ext cx="1950690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6319" y="2446958"/>
            <a:ext cx="1684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SQL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96319" y="2717453"/>
            <a:ext cx="1684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Query writing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30192" y="2313756"/>
            <a:ext cx="1950616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3393" y="2446958"/>
            <a:ext cx="16842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63393" y="2717453"/>
            <a:ext cx="16842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Dashboard creation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97191" y="2313756"/>
            <a:ext cx="1950690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392" y="2446958"/>
            <a:ext cx="1684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Visualization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30392" y="2717453"/>
            <a:ext cx="1684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 storytelling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6119" y="3162970"/>
            <a:ext cx="4017690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320" y="3296171"/>
            <a:ext cx="37512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Business Analysis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9320" y="3566666"/>
            <a:ext cx="37512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Insight generation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30192" y="3162970"/>
            <a:ext cx="4017690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3393" y="3296171"/>
            <a:ext cx="37512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Dashboard Design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763393" y="3566666"/>
            <a:ext cx="37512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UX &amp; layout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6119" y="4026768"/>
            <a:ext cx="8151763" cy="677168"/>
          </a:xfrm>
          <a:prstGeom prst="roundRect">
            <a:avLst>
              <a:gd name="adj" fmla="val 7969"/>
            </a:avLst>
          </a:prstGeom>
          <a:solidFill>
            <a:srgbClr val="D2D9F9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57" y="4208190"/>
            <a:ext cx="160586" cy="128439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13581" y="4175224"/>
            <a:ext cx="76058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demonstrates an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end-to-end data analytics workflow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from raw data cleaning and SQL analysis to interactive dashboard development and business insight delivery.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51520"/>
            <a:ext cx="918865" cy="215354"/>
          </a:xfrm>
          <a:prstGeom prst="roundRect">
            <a:avLst>
              <a:gd name="adj" fmla="val 22119"/>
            </a:avLst>
          </a:prstGeom>
          <a:solidFill>
            <a:srgbClr val="D2D9F9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94011"/>
            <a:ext cx="120595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235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7916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demonstrates an end-to-end data analytics workflow — from data cleaning and SQL analysis to dashboard development and business insights. It highlights practical skills used in real-world data analyst projects.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427684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404155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64162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640" y="2788146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LinkedIn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640" y="309465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linkedin.com/in/alexmorgan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264162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7122" y="2788146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GitHub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07122" y="309465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github.com/alexmorgan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264162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1605" y="2788146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Email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71605" y="309465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alex.morgan@email.com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680594"/>
            <a:ext cx="8151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Questions?</a:t>
            </a:r>
            <a:endParaRPr lang="en-US" sz="3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2026-07-09T04:24:47Z</dcterms:created>
  <dcterms:modified xsi:type="dcterms:W3CDTF">2026-07-09T04:24:47Z</dcterms:modified>
</cp:coreProperties>
</file>